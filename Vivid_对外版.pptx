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Vivid 对外版 1.0。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五大行业痛点依据用户文案整理。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1.0 对外版本。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四处视频均为占位，待替换为演示片。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三处功能视频为占位。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三个资产库图片为占位。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“80%+”为用户提供口径；对比图为占位。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连续镜头图片为占位。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“自动白膜生成”“样片模式”两项的说明文字为拟写，请与产品确认。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套件总览：10个环节，已按要求排除智能剪辑与数据洞察。图片均为占位。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图片为占位。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图片为占位。BGM自动适配：自研BGM库，根据每场戏的情绪与节奏自动生成、匹配BGM，并与画面和配音同步。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1234440" cy="12344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286000" y="16916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22860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AI影视内容创作Agent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从创意灵感到成片交付，全流程自动化生成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822960" y="5120640"/>
            <a:ext cx="10698480" cy="91440"/>
          </a:xfrm>
          <a:prstGeom prst="rect">
            <a:avLst/>
          </a:prstGeom>
          <a:solidFill>
            <a:srgbClr val="23252D"/>
          </a:solidFill>
          <a:ln w="12700">
            <a:solidFill>
              <a:srgbClr val="23252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484632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194560" y="484632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1945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566160" y="484632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661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937760" y="484632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9377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309360" y="484632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093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配音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680960" y="484632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6809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字幕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9052560" y="484632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0525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10424160" y="484632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733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424160" y="4846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成片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产品定位与理念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理念：降低完整内容的制作门槛和制作成本，从“生成单次片段”走向“成片交付”，解决「低成本、规模化生产」的行业痛点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2194560"/>
            <a:ext cx="2075688" cy="28346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49808" y="2423160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0" name="Image 1" descr="LuH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564892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31546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上手门槛高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49808" y="3611880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用户在画布上连接工具、编排流程，上手成本高、生产效率有限、难以规模化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2798064" y="2194560"/>
            <a:ext cx="2075688" cy="28346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999232" y="2423160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5" name="Image 2" descr="LuFil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964" y="2564892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999232" y="31546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作品质感不足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2999232" y="3611880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资产设计、人物表演、镜头衔接与声音配合不到位，有画面却缺少连贯可信的表达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047488" y="2194560"/>
            <a:ext cx="2075688" cy="28346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248656" y="2423160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0" name="Image 3" descr="LuSlidersHorizon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388" y="256489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48656" y="31546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生成难控制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5248656" y="3611880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剧情、人物与镜头难以稳定还原，反复试错让质量、周期和成本难以预期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7296912" y="2194560"/>
            <a:ext cx="2075688" cy="28346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498080" y="2423160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5" name="Image 4" descr="LuRepea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812" y="2564892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498080" y="31546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制作消耗高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7498080" y="3611880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素材重复准备，问题镜头反复生成；单片段试错放大为整部作品的消耗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9546336" y="2194560"/>
            <a:ext cx="2075688" cy="28346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747504" y="2423160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0" name="Image 5" descr="LuUnlin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9236" y="2564892"/>
            <a:ext cx="283464" cy="28346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9747504" y="3154680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流程衔接难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9747504" y="3611880"/>
            <a:ext cx="17099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剧本、分镜、资产与后期分散在不同工具，局部修改难保持前后一致</a:t>
            </a:r>
            <a:endParaRPr lang="en-US" sz="1400" dirty="0"/>
          </a:p>
        </p:txBody>
      </p:sp>
      <p:sp>
        <p:nvSpPr>
          <p:cNvPr id="33" name="Positioning"/>
          <p:cNvSpPr/>
          <p:nvPr/>
        </p:nvSpPr>
        <p:spPr>
          <a:xfrm>
            <a:off x="548640" y="5257800"/>
            <a:ext cx="11091672" cy="1097280"/>
          </a:xfrm>
          <a:prstGeom prst="roundRect">
            <a:avLst>
              <a:gd name="adj" fmla="val 13333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22960" y="5522976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5" name="Image 6" descr="Lu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" y="5664708"/>
            <a:ext cx="283464" cy="28346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60020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1400" dirty="0"/>
          </a:p>
        </p:txBody>
      </p:sp>
      <p:sp>
        <p:nvSpPr>
          <p:cNvPr id="37" name="Text 27"/>
          <p:cNvSpPr txBox="1"/>
          <p:nvPr/>
        </p:nvSpPr>
        <p:spPr>
          <a:xfrm>
            <a:off x="1600200" y="57424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为内容创作者打造的「一站式AI影视创作平台」，从创意灵感到成片交付，全流程自动化生成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自动化Agent + 4条生产管线 + 私有化服务  ·  1.0 对外版本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3575304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267712"/>
            <a:ext cx="585216" cy="58521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0" name="Image 1" descr="LuWork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41401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2267712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全流程自动编排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04672" y="30632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各环节自动依次串联成流水线，提升制作效率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306824" y="2011680"/>
            <a:ext cx="3575304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562856" y="2267712"/>
            <a:ext cx="585216" cy="58521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5" name="Image 2" descr="LuClapperbo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41401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12664" y="2267712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影视级资产和分镜效果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4562856" y="30632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专业skill和分镜模型，输出影视级质感标准和分镜提示词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065008" y="2011680"/>
            <a:ext cx="3575304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321040" y="2267712"/>
            <a:ext cx="585216" cy="58521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0" name="Image 3" descr="Lu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241401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070848" y="2267712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多镜头连贯性控制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8321040" y="30632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保持资产与站位在连续镜头间的自然衔接，降低无效抽卡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4343400"/>
            <a:ext cx="3575304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04672" y="4599432"/>
            <a:ext cx="585216" cy="58521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5" name="Image 4" descr="LuLayoutGri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74573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54480" y="4599432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30+专业影视套件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804672" y="53949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覆盖剧本、资产、视频、配音、字幕与后期，可独立使用，支持MCP与API调用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4306824" y="4343400"/>
            <a:ext cx="3575304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62856" y="4599432"/>
            <a:ext cx="585216" cy="58521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0" name="Image 5" descr="LuFil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4745736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312664" y="4599432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4条生产管线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4562856" y="53949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短剧、动漫、广告素材、海外转绘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8065008" y="4343400"/>
            <a:ext cx="3575304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321040" y="4599432"/>
            <a:ext cx="585216" cy="58521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5" name="Image 6" descr="LuLo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4745736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070848" y="4599432"/>
            <a:ext cx="2386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私有化服务与本地部署</a:t>
            </a:r>
            <a:endParaRPr lang="en-US" sz="1800" dirty="0"/>
          </a:p>
        </p:txBody>
      </p:sp>
      <p:sp>
        <p:nvSpPr>
          <p:cNvPr id="37" name="Text 27"/>
          <p:cNvSpPr txBox="1"/>
          <p:nvPr/>
        </p:nvSpPr>
        <p:spPr>
          <a:xfrm>
            <a:off x="8321040" y="53949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满足数据安全与内容合规要求，降低使用成本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全流程自动化：一站式端到端Agent，一键成片体验</a:t>
            </a:r>
            <a:endParaRPr lang="en-US" sz="32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全流程自动串联，低门槛创作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1091672" cy="91440"/>
          </a:xfrm>
          <a:prstGeom prst="rect">
            <a:avLst/>
          </a:prstGeom>
          <a:solidFill>
            <a:srgbClr val="23252D"/>
          </a:solidFill>
          <a:ln w="12700">
            <a:solidFill>
              <a:srgbClr val="23252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01168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76410" y="201168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7641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04181" y="201168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04181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31951" y="201168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31951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59721" y="201168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59721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配音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87491" y="201168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7491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字幕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115262" y="201168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15262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543032" y="2011680"/>
            <a:ext cx="1097280" cy="640080"/>
          </a:xfrm>
          <a:prstGeom prst="roundRect">
            <a:avLst>
              <a:gd name="adj" fmla="val 20000"/>
            </a:avLst>
          </a:prstGeom>
          <a:solidFill>
            <a:srgbClr val="1733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543032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成片</a:t>
            </a:r>
            <a:endParaRPr lang="en-US" sz="1600" dirty="0"/>
          </a:p>
        </p:txBody>
      </p:sp>
      <p:sp>
        <p:nvSpPr>
          <p:cNvPr id="24" name="Card"/>
          <p:cNvSpPr/>
          <p:nvPr/>
        </p:nvSpPr>
        <p:spPr>
          <a:xfrm>
            <a:off x="548640" y="297180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" y="3200400"/>
            <a:ext cx="512064" cy="51206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6" name="Image 1" descr="LuWorkfl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328416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463040" y="3200400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全流程自动串联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04672" y="38862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从剧本到成片，各环节自动依次执行，无需在多个工具间反复切换、上传素材、注入资产、撰写提示词。创作者只做创作判断，制作执行交给系统。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4306824" y="297180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562856" y="3200400"/>
            <a:ext cx="512064" cy="51206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1" name="Image 2" descr="LuTi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3328416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5221224" y="3200400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分钟级出片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4562856" y="38862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单分钟视频成片约30–40分钟完成，可快速验证市场；成片可一键导入剪辑软件继续人工精修。</a:t>
            </a:r>
            <a:endParaRPr lang="en-US" sz="1400" dirty="0"/>
          </a:p>
        </p:txBody>
      </p:sp>
      <p:sp>
        <p:nvSpPr>
          <p:cNvPr id="34" name="Card"/>
          <p:cNvSpPr/>
          <p:nvPr/>
        </p:nvSpPr>
        <p:spPr>
          <a:xfrm>
            <a:off x="8065008" y="297180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321040" y="3200400"/>
            <a:ext cx="512064" cy="51206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6" name="Image 3" descr="LuRecy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3328416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979408" y="3200400"/>
            <a:ext cx="2478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资产可复用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8321040" y="388620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前一集的资产、角色、场景可直接沿用到后续集数，资产越积越多，持续生产越做越快。</a:t>
            </a:r>
            <a:endParaRPr lang="en-US" sz="1400" dirty="0"/>
          </a:p>
        </p:txBody>
      </p:sp>
      <p:sp>
        <p:nvSpPr>
          <p:cNvPr id="39" name="Manual intervention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684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804672" y="5586984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41" name="Image 4" descr="LuUser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5728716"/>
            <a:ext cx="283464" cy="283464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600200" y="54864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中间环节可人工介入：每个关键节点都保留人工确认和调整入口，可单独修改不满意的角色、镜头或节奏，无需重走整条流程。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4条生产管线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上传剧本或给出创作意图，拆解、准备、生成、拼接全部由系统完成，无需再搭一套工作流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2011680"/>
            <a:ext cx="5458968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" y="2267712"/>
            <a:ext cx="548640" cy="54864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0" name="Image 1" descr="LuSmart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40487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4672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短剧生成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04672" y="3383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支持竖屏/横屏，剧本进、成片出</a:t>
            </a:r>
            <a:endParaRPr lang="en-US" sz="1400" dirty="0"/>
          </a:p>
        </p:txBody>
      </p:sp>
      <p:sp>
        <p:nvSpPr>
          <p:cNvPr id="13" name="Placeholder: 视频占位"/>
          <p:cNvSpPr/>
          <p:nvPr/>
        </p:nvSpPr>
        <p:spPr>
          <a:xfrm>
            <a:off x="3154680" y="2194560"/>
            <a:ext cx="2670048" cy="1783080"/>
          </a:xfrm>
          <a:prstGeom prst="roundRect">
            <a:avLst>
              <a:gd name="adj" fmla="val 5128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4" name="Image 2" descr="视频占位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2729484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154680" y="324154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视频占位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6181344" y="2011680"/>
            <a:ext cx="5458968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437376" y="2267712"/>
            <a:ext cx="548640" cy="54864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8" name="Image 3" descr="LuPalet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40487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37376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/ 3D 动漫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6437376" y="3383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角色场景连贯呈现，长篇连载稳定产出</a:t>
            </a:r>
            <a:endParaRPr lang="en-US" sz="1400" dirty="0"/>
          </a:p>
        </p:txBody>
      </p:sp>
      <p:sp>
        <p:nvSpPr>
          <p:cNvPr id="21" name="Placeholder: 视频占位"/>
          <p:cNvSpPr/>
          <p:nvPr/>
        </p:nvSpPr>
        <p:spPr>
          <a:xfrm>
            <a:off x="8787384" y="2194560"/>
            <a:ext cx="2670048" cy="1783080"/>
          </a:xfrm>
          <a:prstGeom prst="roundRect">
            <a:avLst>
              <a:gd name="adj" fmla="val 5128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22" name="Image 4" descr="视频占位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08" y="2729484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787384" y="324154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视频占位</a:t>
            </a:r>
            <a:endParaRPr lang="en-US" sz="1100" dirty="0"/>
          </a:p>
        </p:txBody>
      </p:sp>
      <p:sp>
        <p:nvSpPr>
          <p:cNvPr id="24" name="Card"/>
          <p:cNvSpPr/>
          <p:nvPr/>
        </p:nvSpPr>
        <p:spPr>
          <a:xfrm>
            <a:off x="548640" y="4343400"/>
            <a:ext cx="5458968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804672" y="4599432"/>
            <a:ext cx="548640" cy="54864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6" name="Image 5" descr="LuGlob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736592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04672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海外转绘</a:t>
            </a:r>
            <a:endParaRPr lang="en-US" sz="1800" dirty="0"/>
          </a:p>
        </p:txBody>
      </p:sp>
      <p:sp>
        <p:nvSpPr>
          <p:cNvPr id="28" name="Text 19"/>
          <p:cNvSpPr txBox="1"/>
          <p:nvPr/>
        </p:nvSpPr>
        <p:spPr>
          <a:xfrm>
            <a:off x="804672" y="5715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爆款内容一键转绘，画面风格、多国语言自动匹配</a:t>
            </a:r>
            <a:endParaRPr lang="en-US" sz="1400" dirty="0"/>
          </a:p>
        </p:txBody>
      </p:sp>
      <p:sp>
        <p:nvSpPr>
          <p:cNvPr id="29" name="Placeholder: 视频占位"/>
          <p:cNvSpPr/>
          <p:nvPr/>
        </p:nvSpPr>
        <p:spPr>
          <a:xfrm>
            <a:off x="3154680" y="4526280"/>
            <a:ext cx="2670048" cy="1783080"/>
          </a:xfrm>
          <a:prstGeom prst="roundRect">
            <a:avLst>
              <a:gd name="adj" fmla="val 5128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30" name="Image 6" descr="视频占位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1104" y="5061204"/>
            <a:ext cx="457200" cy="4572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3154680" y="557326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视频占位</a:t>
            </a:r>
            <a:endParaRPr lang="en-US" sz="1100" dirty="0"/>
          </a:p>
        </p:txBody>
      </p:sp>
      <p:sp>
        <p:nvSpPr>
          <p:cNvPr id="32" name="Card"/>
          <p:cNvSpPr/>
          <p:nvPr/>
        </p:nvSpPr>
        <p:spPr>
          <a:xfrm>
            <a:off x="6181344" y="4343400"/>
            <a:ext cx="5458968" cy="2148840"/>
          </a:xfrm>
          <a:prstGeom prst="roundRect">
            <a:avLst>
              <a:gd name="adj" fmla="val 6809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6437376" y="4599432"/>
            <a:ext cx="548640" cy="54864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4" name="Image 7" descr="LuMegaphon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4736592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437376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广告素材</a:t>
            </a:r>
            <a:endParaRPr lang="en-US" sz="1800" dirty="0"/>
          </a:p>
        </p:txBody>
      </p:sp>
      <p:sp>
        <p:nvSpPr>
          <p:cNvPr id="36" name="Text 25"/>
          <p:cNvSpPr txBox="1"/>
          <p:nvPr/>
        </p:nvSpPr>
        <p:spPr>
          <a:xfrm>
            <a:off x="6437376" y="5715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批量生成广告与营销素材，覆盖多类型、多行业，适配多投放渠道</a:t>
            </a:r>
            <a:endParaRPr lang="en-US" sz="1400" dirty="0"/>
          </a:p>
        </p:txBody>
      </p:sp>
      <p:sp>
        <p:nvSpPr>
          <p:cNvPr id="37" name="Placeholder: 视频占位"/>
          <p:cNvSpPr/>
          <p:nvPr/>
        </p:nvSpPr>
        <p:spPr>
          <a:xfrm>
            <a:off x="8787384" y="4526280"/>
            <a:ext cx="2670048" cy="1783080"/>
          </a:xfrm>
          <a:prstGeom prst="roundRect">
            <a:avLst>
              <a:gd name="adj" fmla="val 5128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38" name="Image 8" descr="视频占位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3808" y="5061204"/>
            <a:ext cx="457200" cy="4572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787384" y="557326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视频占位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影视级资产和分镜：专业资产设计 Skill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角色、场景、道具一体化设计，沉淀可复用的影视级资产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1965960"/>
            <a:ext cx="3575304" cy="4297680"/>
          </a:xfrm>
          <a:prstGeom prst="roundRect">
            <a:avLst>
              <a:gd name="adj" fmla="val 409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Placeholder: 视频占位"/>
          <p:cNvSpPr/>
          <p:nvPr/>
        </p:nvSpPr>
        <p:spPr>
          <a:xfrm>
            <a:off x="731520" y="2148840"/>
            <a:ext cx="3209544" cy="1920240"/>
          </a:xfrm>
          <a:prstGeom prst="roundRect">
            <a:avLst>
              <a:gd name="adj" fmla="val 476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0" name="Image 1" descr="视频占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92" y="2752344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326440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视频占位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3" name="Image 2" descr="LuU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36626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25196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角色和妆造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822960" y="4892040"/>
            <a:ext cx="3026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演员生成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角色三视图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无损换装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角色变体（年龄/战损）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选角 &amp; 妆造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306824" y="1965960"/>
            <a:ext cx="3575304" cy="4297680"/>
          </a:xfrm>
          <a:prstGeom prst="roundRect">
            <a:avLst>
              <a:gd name="adj" fmla="val 409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7" name="Placeholder: 视频占位"/>
          <p:cNvSpPr/>
          <p:nvPr/>
        </p:nvSpPr>
        <p:spPr>
          <a:xfrm>
            <a:off x="4489704" y="2148840"/>
            <a:ext cx="3209544" cy="1920240"/>
          </a:xfrm>
          <a:prstGeom prst="roundRect">
            <a:avLst>
              <a:gd name="adj" fmla="val 476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8" name="Image 3" descr="视频占位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2752344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489704" y="326440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视频占位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535424" y="425196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1" name="Image 4" descr="LuMount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436626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129784" y="425196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场景设计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4581144" y="4892040"/>
            <a:ext cx="3026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场景四视图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场景换光线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场景反打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影视光影库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8065008" y="1965960"/>
            <a:ext cx="3575304" cy="4297680"/>
          </a:xfrm>
          <a:prstGeom prst="roundRect">
            <a:avLst>
              <a:gd name="adj" fmla="val 409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5" name="Placeholder: 视频占位"/>
          <p:cNvSpPr/>
          <p:nvPr/>
        </p:nvSpPr>
        <p:spPr>
          <a:xfrm>
            <a:off x="8247888" y="2148840"/>
            <a:ext cx="3209544" cy="1920240"/>
          </a:xfrm>
          <a:prstGeom prst="roundRect">
            <a:avLst>
              <a:gd name="adj" fmla="val 476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26" name="Image 5" descr="视频占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0" y="2752344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247888" y="326440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视频占位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8293608" y="425196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9" name="Image 6" descr="LuBo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908" y="4366260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887968" y="425196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道具设计</a:t>
            </a:r>
            <a:endParaRPr lang="en-US" sz="1800" dirty="0"/>
          </a:p>
        </p:txBody>
      </p:sp>
      <p:sp>
        <p:nvSpPr>
          <p:cNvPr id="31" name="Text 21"/>
          <p:cNvSpPr txBox="1"/>
          <p:nvPr/>
        </p:nvSpPr>
        <p:spPr>
          <a:xfrm>
            <a:off x="8339328" y="4892040"/>
            <a:ext cx="30266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道具多角度</a:t>
            </a:r>
            <a:endParaRPr lang="en-US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道具生成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高品质资产沉淀：AI演员库 · 服装库 · 场景库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按影视剧作标准建设的官方资产库，高品质资产标准化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1965960"/>
            <a:ext cx="3575304" cy="3520440"/>
          </a:xfrm>
          <a:prstGeom prst="roundRect">
            <a:avLst>
              <a:gd name="adj" fmla="val 4156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Placeholder: 图片占位"/>
          <p:cNvSpPr/>
          <p:nvPr/>
        </p:nvSpPr>
        <p:spPr>
          <a:xfrm>
            <a:off x="731520" y="2148840"/>
            <a:ext cx="3209544" cy="2468880"/>
          </a:xfrm>
          <a:prstGeom prst="roundRect">
            <a:avLst>
              <a:gd name="adj" fmla="val 3704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0" name="Image 1" descr="图片占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92" y="3026664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353872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77240" y="4754880"/>
            <a:ext cx="502920" cy="50292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3" name="Image 2" descr="Lu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488061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7548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AI演员库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4306824" y="1965960"/>
            <a:ext cx="3575304" cy="3520440"/>
          </a:xfrm>
          <a:prstGeom prst="roundRect">
            <a:avLst>
              <a:gd name="adj" fmla="val 4156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6" name="Placeholder: 图片占位"/>
          <p:cNvSpPr/>
          <p:nvPr/>
        </p:nvSpPr>
        <p:spPr>
          <a:xfrm>
            <a:off x="4489704" y="2148840"/>
            <a:ext cx="3209544" cy="2468880"/>
          </a:xfrm>
          <a:prstGeom prst="roundRect">
            <a:avLst>
              <a:gd name="adj" fmla="val 3704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7" name="Image 3" descr="图片占位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3026664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489704" y="353872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535424" y="4754880"/>
            <a:ext cx="502920" cy="50292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0" name="Image 4" descr="LuShi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154" y="4880610"/>
            <a:ext cx="251460" cy="2514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175504" y="47548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服装库</a:t>
            </a:r>
            <a:endParaRPr lang="en-US" sz="1800" dirty="0"/>
          </a:p>
        </p:txBody>
      </p:sp>
      <p:sp>
        <p:nvSpPr>
          <p:cNvPr id="22" name="Card"/>
          <p:cNvSpPr/>
          <p:nvPr/>
        </p:nvSpPr>
        <p:spPr>
          <a:xfrm>
            <a:off x="8065008" y="1965960"/>
            <a:ext cx="3575304" cy="3520440"/>
          </a:xfrm>
          <a:prstGeom prst="roundRect">
            <a:avLst>
              <a:gd name="adj" fmla="val 4156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3" name="Placeholder: 图片占位"/>
          <p:cNvSpPr/>
          <p:nvPr/>
        </p:nvSpPr>
        <p:spPr>
          <a:xfrm>
            <a:off x="8247888" y="2148840"/>
            <a:ext cx="3209544" cy="2468880"/>
          </a:xfrm>
          <a:prstGeom prst="roundRect">
            <a:avLst>
              <a:gd name="adj" fmla="val 3704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24" name="Image 5" descr="图片占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0" y="3026664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247888" y="353872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26" name="Shape 17"/>
          <p:cNvSpPr/>
          <p:nvPr/>
        </p:nvSpPr>
        <p:spPr>
          <a:xfrm>
            <a:off x="8293608" y="4754880"/>
            <a:ext cx="502920" cy="50292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7" name="Image 6" descr="LuMountai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9338" y="4880610"/>
            <a:ext cx="251460" cy="2514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933688" y="47548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场景库</a:t>
            </a:r>
            <a:endParaRPr lang="en-US" sz="1800" dirty="0"/>
          </a:p>
        </p:txBody>
      </p:sp>
      <p:sp>
        <p:nvSpPr>
          <p:cNvPr id="29" name="Summary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22857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822960" y="56692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增强真实性、环境融合、表演与光影，让资产服务于连续镜头中的影视表达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导演级分镜提示词，与原片对比还原度达80%+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剧本理解先行，导演方法论驱动，逐镜头结构化输出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1965960"/>
            <a:ext cx="6309360" cy="1024128"/>
          </a:xfrm>
          <a:prstGeom prst="roundRect">
            <a:avLst>
              <a:gd name="adj" fmla="val 14286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0" name="Image 1" descr="Lu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336292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20574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剧本理解先行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429000" y="2039112"/>
            <a:ext cx="3246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先解析世界观、时间线、人物关系，输出导演规划制片表，再产分镜——贴合剧情而不是贴字面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548640" y="3081528"/>
            <a:ext cx="6309360" cy="1024128"/>
          </a:xfrm>
          <a:prstGeom prst="roundRect">
            <a:avLst>
              <a:gd name="adj" fmla="val 14286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77240" y="3310128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5" name="Image 2" descr="LuScisso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451860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54480" y="317296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自动拆分镜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3429000" y="3154680"/>
            <a:ext cx="3246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解析剧本结构，生成覆盖景别、运镜、构图、站位、光影、表演全要素的导演级分镜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548640" y="4197096"/>
            <a:ext cx="6309360" cy="1024128"/>
          </a:xfrm>
          <a:prstGeom prst="roundRect">
            <a:avLst>
              <a:gd name="adj" fmla="val 14286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77240" y="4425696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0" name="Image 3" descr="LuGraduationC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567428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54480" y="428853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导演方法论驱动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3429000" y="4270248"/>
            <a:ext cx="3246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结合表演、影调、题材、形式与叙事等专业方法优化提示词，减少无效抽卡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548640" y="5312664"/>
            <a:ext cx="6309360" cy="1024128"/>
          </a:xfrm>
          <a:prstGeom prst="roundRect">
            <a:avLst>
              <a:gd name="adj" fmla="val 14286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77240" y="5541264"/>
            <a:ext cx="566928" cy="56692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5" name="Image 4" descr="LuLibrar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5682996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54480" y="540410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方法论知识库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3429000" y="5385816"/>
            <a:ext cx="3246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站位关系 · 入画人数 · 景别景深 · 运镜素材库 · ···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7040880" y="1965960"/>
            <a:ext cx="4599432" cy="4370832"/>
          </a:xfrm>
          <a:prstGeom prst="roundRect">
            <a:avLst>
              <a:gd name="adj" fmla="val 3347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9" name="Placeholder: 原片 / 分镜对比图占位"/>
          <p:cNvSpPr/>
          <p:nvPr/>
        </p:nvSpPr>
        <p:spPr>
          <a:xfrm>
            <a:off x="7223760" y="2148840"/>
            <a:ext cx="4233672" cy="2468880"/>
          </a:xfrm>
          <a:prstGeom prst="roundRect">
            <a:avLst>
              <a:gd name="adj" fmla="val 3704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30" name="Image 5" descr="原片 / 分镜对比图占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1996" y="3026664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223760" y="3538728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原片 / 分镜对比图占位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7315200" y="4754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80%+</a:t>
            </a:r>
            <a:endParaRPr lang="en-US" sz="4800" dirty="0"/>
          </a:p>
        </p:txBody>
      </p:sp>
      <p:sp>
        <p:nvSpPr>
          <p:cNvPr id="33" name="Text 24"/>
          <p:cNvSpPr txBox="1"/>
          <p:nvPr/>
        </p:nvSpPr>
        <p:spPr>
          <a:xfrm>
            <a:off x="9326880" y="4754880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与原片对比的分镜还原度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7315200" y="562356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逐镜头结构化输出，直接用于视频生成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多镜头连贯性控制：资产一致性与表演状态延续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保证全片人物和场景前后一致，问题镜头单独修复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1965960"/>
            <a:ext cx="3575304" cy="4343400"/>
          </a:xfrm>
          <a:prstGeom prst="roundRect">
            <a:avLst>
              <a:gd name="adj" fmla="val 409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Placeholder: 连续镜头图片占位"/>
          <p:cNvSpPr/>
          <p:nvPr/>
        </p:nvSpPr>
        <p:spPr>
          <a:xfrm>
            <a:off x="731520" y="2148840"/>
            <a:ext cx="3209544" cy="1828800"/>
          </a:xfrm>
          <a:prstGeom prst="roundRect">
            <a:avLst>
              <a:gd name="adj" fmla="val 5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0" name="Image 1" descr="连续镜头图片占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92" y="2706624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32186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连续镜头图片占位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3" name="Image 2" descr="LuPackag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42748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16052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自动资产注入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822960" y="480060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角色、妆造、场景、道具资产统一入库管理，出片时统一注入，保证全片人物和场景前后一致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306824" y="1965960"/>
            <a:ext cx="3575304" cy="4343400"/>
          </a:xfrm>
          <a:prstGeom prst="roundRect">
            <a:avLst>
              <a:gd name="adj" fmla="val 409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7" name="Placeholder: 连续镜头图片占位"/>
          <p:cNvSpPr/>
          <p:nvPr/>
        </p:nvSpPr>
        <p:spPr>
          <a:xfrm>
            <a:off x="4489704" y="2148840"/>
            <a:ext cx="3209544" cy="1828800"/>
          </a:xfrm>
          <a:prstGeom prst="roundRect">
            <a:avLst>
              <a:gd name="adj" fmla="val 5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8" name="Image 3" descr="连续镜头图片占位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2706624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连续镜头图片占位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535424" y="416052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1" name="Image 4" descr="LuDram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4274820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129784" y="416052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表演状态延续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4581144" y="480060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人物表演状态和动作在连续镜头间保持自然延续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8065008" y="1965960"/>
            <a:ext cx="3575304" cy="4343400"/>
          </a:xfrm>
          <a:prstGeom prst="roundRect">
            <a:avLst>
              <a:gd name="adj" fmla="val 409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5" name="Placeholder: 连续镜头图片占位"/>
          <p:cNvSpPr/>
          <p:nvPr/>
        </p:nvSpPr>
        <p:spPr>
          <a:xfrm>
            <a:off x="8247888" y="2148840"/>
            <a:ext cx="3209544" cy="1828800"/>
          </a:xfrm>
          <a:prstGeom prst="roundRect">
            <a:avLst>
              <a:gd name="adj" fmla="val 5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26" name="Image 5" descr="连续镜头图片占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0" y="2706624"/>
            <a:ext cx="457200" cy="4572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247888" y="32186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连续镜头图片占位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8293608" y="416052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9" name="Image 6" descr="LuWrenc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908" y="4274820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8887968" y="416052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镜头级修复</a:t>
            </a:r>
            <a:endParaRPr lang="en-US" sz="1800" dirty="0"/>
          </a:p>
        </p:txBody>
      </p:sp>
      <p:sp>
        <p:nvSpPr>
          <p:cNvPr id="31" name="Text 21"/>
          <p:cNvSpPr txBox="1"/>
          <p:nvPr/>
        </p:nvSpPr>
        <p:spPr>
          <a:xfrm>
            <a:off x="8339328" y="480060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质检发现问题后只重生成问题镜头，不动全片，修复成本低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多镜头连贯性控制：站位一致性控制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跨镜头不越轴、不换位，人物站位关系保持一致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1965960"/>
            <a:ext cx="4754880" cy="4370832"/>
          </a:xfrm>
          <a:prstGeom prst="roundRect">
            <a:avLst>
              <a:gd name="adj" fmla="val 3347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Placeholder: 站位图 / 白膜 / 样片 示意占位"/>
          <p:cNvSpPr/>
          <p:nvPr/>
        </p:nvSpPr>
        <p:spPr>
          <a:xfrm>
            <a:off x="731520" y="2148840"/>
            <a:ext cx="4389120" cy="4005072"/>
          </a:xfrm>
          <a:prstGeom prst="roundRect">
            <a:avLst>
              <a:gd name="adj" fmla="val 2283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0" name="Image 1" descr="站位图 / 白膜 / 样片 示意占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79476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4306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站位图 / 白膜 / 样片 示意占位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5486400" y="1965960"/>
            <a:ext cx="6153912" cy="676656"/>
          </a:xfrm>
          <a:prstGeom prst="roundRect">
            <a:avLst>
              <a:gd name="adj" fmla="val 2162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669280" y="2057400"/>
            <a:ext cx="493776" cy="49377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4" name="Image 2" descr="LuMapP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724" y="2180844"/>
            <a:ext cx="246888" cy="24688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355080" y="196596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站位图生成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8229600" y="1965960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生成站位图，明确人物空间关系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5486400" y="2704795"/>
            <a:ext cx="6153912" cy="676656"/>
          </a:xfrm>
          <a:prstGeom prst="roundRect">
            <a:avLst>
              <a:gd name="adj" fmla="val 2162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669280" y="2796235"/>
            <a:ext cx="493776" cy="49377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9" name="Image 3" descr="LuScan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919679"/>
            <a:ext cx="246888" cy="24688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55080" y="2704795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智能站位帧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8229600" y="2704795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智能抽帧锁定站位图，不越轴、不换位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5486400" y="3443630"/>
            <a:ext cx="6153912" cy="676656"/>
          </a:xfrm>
          <a:prstGeom prst="roundRect">
            <a:avLst>
              <a:gd name="adj" fmla="val 2162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5669280" y="3535070"/>
            <a:ext cx="493776" cy="49377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4" name="Image 4" descr="LuBox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724" y="3658514"/>
            <a:ext cx="246888" cy="24688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355080" y="344363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自动白膜生成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8229600" y="3443630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自动生成白膜，快速确认空间与站位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5486400" y="4182466"/>
            <a:ext cx="6153912" cy="676656"/>
          </a:xfrm>
          <a:prstGeom prst="roundRect">
            <a:avLst>
              <a:gd name="adj" fmla="val 2162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669280" y="4273906"/>
            <a:ext cx="493776" cy="49377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9" name="Image 5" descr="LuFil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2724" y="4397350"/>
            <a:ext cx="246888" cy="24688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355080" y="418246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样片模式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8229600" y="4182466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先出样片，确认后再正式生成</a:t>
            </a:r>
            <a:endParaRPr lang="en-US" sz="1300" dirty="0"/>
          </a:p>
        </p:txBody>
      </p:sp>
      <p:sp>
        <p:nvSpPr>
          <p:cNvPr id="32" name="Card"/>
          <p:cNvSpPr/>
          <p:nvPr/>
        </p:nvSpPr>
        <p:spPr>
          <a:xfrm>
            <a:off x="5486400" y="4921301"/>
            <a:ext cx="6153912" cy="676656"/>
          </a:xfrm>
          <a:prstGeom prst="roundRect">
            <a:avLst>
              <a:gd name="adj" fmla="val 2162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669280" y="5012741"/>
            <a:ext cx="493776" cy="49377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4" name="Image 6" descr="LuArrowRightLef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2724" y="5136185"/>
            <a:ext cx="246888" cy="24688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355080" y="4921301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站位状态延续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8229600" y="4921301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站位状态在前后镜头间延续</a:t>
            </a:r>
            <a:endParaRPr lang="en-US" sz="1300" dirty="0"/>
          </a:p>
        </p:txBody>
      </p:sp>
      <p:sp>
        <p:nvSpPr>
          <p:cNvPr id="37" name="Card"/>
          <p:cNvSpPr/>
          <p:nvPr/>
        </p:nvSpPr>
        <p:spPr>
          <a:xfrm>
            <a:off x="5486400" y="5660136"/>
            <a:ext cx="6153912" cy="676656"/>
          </a:xfrm>
          <a:prstGeom prst="roundRect">
            <a:avLst>
              <a:gd name="adj" fmla="val 21622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5669280" y="5751576"/>
            <a:ext cx="493776" cy="493776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9" name="Image 7" descr="LuSpli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2724" y="5875020"/>
            <a:ext cx="246888" cy="246888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355080" y="566013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超长提示词拆分</a:t>
            </a:r>
            <a:endParaRPr lang="en-US" sz="1600" dirty="0"/>
          </a:p>
        </p:txBody>
      </p:sp>
      <p:sp>
        <p:nvSpPr>
          <p:cNvPr id="41" name="Text 30"/>
          <p:cNvSpPr txBox="1"/>
          <p:nvPr/>
        </p:nvSpPr>
        <p:spPr>
          <a:xfrm>
            <a:off x="8229600" y="5660136"/>
            <a:ext cx="3273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长剧本、复杂镜头描述自动拆分为可执行的生成任务，无需人工分段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30+专业影视工具套件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10个生产环节，每个环节都是专业工具，可单独使用，也可按制作顺序衔接，支持MCP、API调用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2903220"/>
            <a:ext cx="11091672" cy="91440"/>
          </a:xfrm>
          <a:prstGeom prst="rect">
            <a:avLst/>
          </a:prstGeom>
          <a:solidFill>
            <a:srgbClr val="23252D"/>
          </a:solidFill>
          <a:ln w="12700">
            <a:solidFill>
              <a:srgbClr val="23252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5372100"/>
            <a:ext cx="11091672" cy="91440"/>
          </a:xfrm>
          <a:prstGeom prst="rect">
            <a:avLst/>
          </a:prstGeom>
          <a:solidFill>
            <a:srgbClr val="23252D"/>
          </a:solidFill>
          <a:ln w="12700">
            <a:solidFill>
              <a:srgbClr val="23252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556748" y="4023360"/>
            <a:ext cx="91440" cy="320040"/>
          </a:xfrm>
          <a:prstGeom prst="rect">
            <a:avLst/>
          </a:prstGeom>
          <a:solidFill>
            <a:srgbClr val="23252D"/>
          </a:solidFill>
          <a:ln w="12700">
            <a:solidFill>
              <a:srgbClr val="23252D"/>
            </a:solidFill>
            <a:prstDash val="solid"/>
          </a:ln>
        </p:spPr>
      </p:sp>
      <p:sp>
        <p:nvSpPr>
          <p:cNvPr id="11" name="Card"/>
          <p:cNvSpPr/>
          <p:nvPr/>
        </p:nvSpPr>
        <p:spPr>
          <a:xfrm>
            <a:off x="548640" y="187452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2" name="Placeholder: 图片占位"/>
          <p:cNvSpPr/>
          <p:nvPr/>
        </p:nvSpPr>
        <p:spPr>
          <a:xfrm>
            <a:off x="685800" y="201168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3" name="Image 1" descr="图片占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324" y="22037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5800" y="25328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85800" y="306324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6" name="Image 2" descr="Lu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3168396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06324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剧本创作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" y="356616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一句话生成剧本，智能拉片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2802636" y="187452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0" name="Placeholder: 图片占位"/>
          <p:cNvSpPr/>
          <p:nvPr/>
        </p:nvSpPr>
        <p:spPr>
          <a:xfrm>
            <a:off x="2939796" y="201168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21" name="Image 3" descr="图片占位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203704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939796" y="25328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2939796" y="306324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4" name="Image 4" descr="LuSto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3168396"/>
            <a:ext cx="210312" cy="21031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3442716" y="306324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剧本超市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2939796" y="356616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剧本素材采购通道</a:t>
            </a:r>
            <a:endParaRPr lang="en-US" sz="1200" dirty="0"/>
          </a:p>
        </p:txBody>
      </p:sp>
      <p:sp>
        <p:nvSpPr>
          <p:cNvPr id="27" name="Card"/>
          <p:cNvSpPr/>
          <p:nvPr/>
        </p:nvSpPr>
        <p:spPr>
          <a:xfrm>
            <a:off x="5056632" y="187452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8" name="Placeholder: 图片占位"/>
          <p:cNvSpPr/>
          <p:nvPr/>
        </p:nvSpPr>
        <p:spPr>
          <a:xfrm>
            <a:off x="5193792" y="201168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29" name="Image 5" descr="图片占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316" y="2203704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193792" y="25328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5193792" y="306324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2" name="Image 6" descr="LuClipboar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8948" y="3168396"/>
            <a:ext cx="210312" cy="21031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696712" y="306324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剧本评估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5193792" y="356616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剧本质量自动评估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7310628" y="187452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6" name="Placeholder: 图片占位"/>
          <p:cNvSpPr/>
          <p:nvPr/>
        </p:nvSpPr>
        <p:spPr>
          <a:xfrm>
            <a:off x="7447788" y="201168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37" name="Image 7" descr="图片占位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1312" y="2203704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447788" y="25328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7447788" y="306324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40" name="Image 8" descr="LuLayer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2944" y="3168396"/>
            <a:ext cx="210312" cy="210312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950708" y="306324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剧本分镜</a:t>
            </a:r>
            <a:endParaRPr lang="en-US" sz="1600" dirty="0"/>
          </a:p>
        </p:txBody>
      </p:sp>
      <p:sp>
        <p:nvSpPr>
          <p:cNvPr id="42" name="Text 30"/>
          <p:cNvSpPr txBox="1"/>
          <p:nvPr/>
        </p:nvSpPr>
        <p:spPr>
          <a:xfrm>
            <a:off x="7447788" y="356616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自动分镜（全要素）</a:t>
            </a:r>
            <a:endParaRPr lang="en-US" sz="1200" dirty="0"/>
          </a:p>
        </p:txBody>
      </p:sp>
      <p:sp>
        <p:nvSpPr>
          <p:cNvPr id="43" name="Card"/>
          <p:cNvSpPr/>
          <p:nvPr/>
        </p:nvSpPr>
        <p:spPr>
          <a:xfrm>
            <a:off x="9564624" y="187452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44" name="Placeholder: 图片占位"/>
          <p:cNvSpPr/>
          <p:nvPr/>
        </p:nvSpPr>
        <p:spPr>
          <a:xfrm>
            <a:off x="9701784" y="201168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45" name="Image 9" descr="图片占位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5308" y="2203704"/>
            <a:ext cx="274320" cy="27432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9701784" y="25328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47" name="Shape 34"/>
          <p:cNvSpPr/>
          <p:nvPr/>
        </p:nvSpPr>
        <p:spPr>
          <a:xfrm>
            <a:off x="9701784" y="306324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48" name="Image 10" descr="LuShoppingBa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6940" y="3168396"/>
            <a:ext cx="210312" cy="210312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10204704" y="306324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资产设计</a:t>
            </a:r>
            <a:endParaRPr lang="en-US" sz="1600" dirty="0"/>
          </a:p>
        </p:txBody>
      </p:sp>
      <p:sp>
        <p:nvSpPr>
          <p:cNvPr id="50" name="Text 36"/>
          <p:cNvSpPr txBox="1"/>
          <p:nvPr/>
        </p:nvSpPr>
        <p:spPr>
          <a:xfrm>
            <a:off x="9701784" y="356616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选角妆造，多视图换装</a:t>
            </a:r>
            <a:endParaRPr lang="en-US" sz="1200" dirty="0"/>
          </a:p>
        </p:txBody>
      </p:sp>
      <p:sp>
        <p:nvSpPr>
          <p:cNvPr id="51" name="Card"/>
          <p:cNvSpPr/>
          <p:nvPr/>
        </p:nvSpPr>
        <p:spPr>
          <a:xfrm>
            <a:off x="548640" y="434340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52" name="Placeholder: 图片占位"/>
          <p:cNvSpPr/>
          <p:nvPr/>
        </p:nvSpPr>
        <p:spPr>
          <a:xfrm>
            <a:off x="685800" y="448056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53" name="Image 11" descr="图片占位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9324" y="4672584"/>
            <a:ext cx="274320" cy="274320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85800" y="50017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55" name="Shape 40"/>
          <p:cNvSpPr/>
          <p:nvPr/>
        </p:nvSpPr>
        <p:spPr>
          <a:xfrm>
            <a:off x="685800" y="5532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56" name="Image 12" descr="LuVide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956" y="5637276"/>
            <a:ext cx="210312" cy="210312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1188720" y="553212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</a:t>
            </a:r>
            <a:endParaRPr lang="en-US" sz="1600" dirty="0"/>
          </a:p>
        </p:txBody>
      </p:sp>
      <p:sp>
        <p:nvSpPr>
          <p:cNvPr id="58" name="Text 42"/>
          <p:cNvSpPr txBox="1"/>
          <p:nvPr/>
        </p:nvSpPr>
        <p:spPr>
          <a:xfrm>
            <a:off x="685800" y="60350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提示词质检，批量生成</a:t>
            </a:r>
            <a:endParaRPr lang="en-US" sz="1200" dirty="0"/>
          </a:p>
        </p:txBody>
      </p:sp>
      <p:sp>
        <p:nvSpPr>
          <p:cNvPr id="59" name="Card"/>
          <p:cNvSpPr/>
          <p:nvPr/>
        </p:nvSpPr>
        <p:spPr>
          <a:xfrm>
            <a:off x="2802636" y="434340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60" name="Placeholder: 图片占位"/>
          <p:cNvSpPr/>
          <p:nvPr/>
        </p:nvSpPr>
        <p:spPr>
          <a:xfrm>
            <a:off x="2939796" y="448056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61" name="Image 13" descr="图片占位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03320" y="4672584"/>
            <a:ext cx="274320" cy="274320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2939796" y="50017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63" name="Shape 46"/>
          <p:cNvSpPr/>
          <p:nvPr/>
        </p:nvSpPr>
        <p:spPr>
          <a:xfrm>
            <a:off x="2939796" y="5532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64" name="Image 14" descr="LuMic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4952" y="5637276"/>
            <a:ext cx="210312" cy="210312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3442716" y="553212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智能配音</a:t>
            </a:r>
            <a:endParaRPr lang="en-US" sz="1600" dirty="0"/>
          </a:p>
        </p:txBody>
      </p:sp>
      <p:sp>
        <p:nvSpPr>
          <p:cNvPr id="66" name="Text 48"/>
          <p:cNvSpPr txBox="1"/>
          <p:nvPr/>
        </p:nvSpPr>
        <p:spPr>
          <a:xfrm>
            <a:off x="2939796" y="60350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音色替换与统一</a:t>
            </a:r>
            <a:endParaRPr lang="en-US" sz="1200" dirty="0"/>
          </a:p>
        </p:txBody>
      </p:sp>
      <p:sp>
        <p:nvSpPr>
          <p:cNvPr id="67" name="Card"/>
          <p:cNvSpPr/>
          <p:nvPr/>
        </p:nvSpPr>
        <p:spPr>
          <a:xfrm>
            <a:off x="5056632" y="434340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68" name="Placeholder: 图片占位"/>
          <p:cNvSpPr/>
          <p:nvPr/>
        </p:nvSpPr>
        <p:spPr>
          <a:xfrm>
            <a:off x="5193792" y="448056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69" name="Image 15" descr="图片占位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57316" y="4672584"/>
            <a:ext cx="274320" cy="274320"/>
          </a:xfrm>
          <a:prstGeom prst="rect">
            <a:avLst/>
          </a:prstGeom>
        </p:spPr>
      </p:pic>
      <p:sp>
        <p:nvSpPr>
          <p:cNvPr id="70" name="Text 51"/>
          <p:cNvSpPr txBox="1"/>
          <p:nvPr/>
        </p:nvSpPr>
        <p:spPr>
          <a:xfrm>
            <a:off x="5193792" y="50017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71" name="Shape 52"/>
          <p:cNvSpPr/>
          <p:nvPr/>
        </p:nvSpPr>
        <p:spPr>
          <a:xfrm>
            <a:off x="5193792" y="5532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72" name="Image 16" descr="LuCaptions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98948" y="5637276"/>
            <a:ext cx="210312" cy="210312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5696712" y="553212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字幕生成</a:t>
            </a:r>
            <a:endParaRPr lang="en-US" sz="1600" dirty="0"/>
          </a:p>
        </p:txBody>
      </p:sp>
      <p:sp>
        <p:nvSpPr>
          <p:cNvPr id="74" name="Text 54"/>
          <p:cNvSpPr txBox="1"/>
          <p:nvPr/>
        </p:nvSpPr>
        <p:spPr>
          <a:xfrm>
            <a:off x="5193792" y="60350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自动字幕与配音对齐</a:t>
            </a:r>
            <a:endParaRPr lang="en-US" sz="1200" dirty="0"/>
          </a:p>
        </p:txBody>
      </p:sp>
      <p:sp>
        <p:nvSpPr>
          <p:cNvPr id="75" name="Card"/>
          <p:cNvSpPr/>
          <p:nvPr/>
        </p:nvSpPr>
        <p:spPr>
          <a:xfrm>
            <a:off x="7310628" y="434340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76" name="Placeholder: 图片占位"/>
          <p:cNvSpPr/>
          <p:nvPr/>
        </p:nvSpPr>
        <p:spPr>
          <a:xfrm>
            <a:off x="7447788" y="448056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77" name="Image 17" descr="图片占位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11312" y="4672584"/>
            <a:ext cx="274320" cy="274320"/>
          </a:xfrm>
          <a:prstGeom prst="rect">
            <a:avLst/>
          </a:prstGeom>
        </p:spPr>
      </p:pic>
      <p:sp>
        <p:nvSpPr>
          <p:cNvPr id="78" name="Text 57"/>
          <p:cNvSpPr txBox="1"/>
          <p:nvPr/>
        </p:nvSpPr>
        <p:spPr>
          <a:xfrm>
            <a:off x="7447788" y="50017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79" name="Shape 58"/>
          <p:cNvSpPr/>
          <p:nvPr/>
        </p:nvSpPr>
        <p:spPr>
          <a:xfrm>
            <a:off x="7447788" y="5532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80" name="Image 18" descr="LuClapperboard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52944" y="5637276"/>
            <a:ext cx="210312" cy="210312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7950708" y="553212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影视后期</a:t>
            </a:r>
            <a:endParaRPr lang="en-US" sz="1600" dirty="0"/>
          </a:p>
        </p:txBody>
      </p:sp>
      <p:sp>
        <p:nvSpPr>
          <p:cNvPr id="82" name="Text 60"/>
          <p:cNvSpPr txBox="1"/>
          <p:nvPr/>
        </p:nvSpPr>
        <p:spPr>
          <a:xfrm>
            <a:off x="7447788" y="60350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超分、插帧、HDR</a:t>
            </a:r>
            <a:endParaRPr lang="en-US" sz="1200" dirty="0"/>
          </a:p>
        </p:txBody>
      </p:sp>
      <p:sp>
        <p:nvSpPr>
          <p:cNvPr id="83" name="Card"/>
          <p:cNvSpPr/>
          <p:nvPr/>
        </p:nvSpPr>
        <p:spPr>
          <a:xfrm>
            <a:off x="9564624" y="434340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84" name="Placeholder: 图片占位"/>
          <p:cNvSpPr/>
          <p:nvPr/>
        </p:nvSpPr>
        <p:spPr>
          <a:xfrm>
            <a:off x="9701784" y="4480560"/>
            <a:ext cx="1801368" cy="914400"/>
          </a:xfrm>
          <a:prstGeom prst="roundRect">
            <a:avLst>
              <a:gd name="adj" fmla="val 10000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85" name="Image 19" descr="图片占位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65308" y="4672584"/>
            <a:ext cx="274320" cy="274320"/>
          </a:xfrm>
          <a:prstGeom prst="rect">
            <a:avLst/>
          </a:prstGeom>
        </p:spPr>
      </p:pic>
      <p:sp>
        <p:nvSpPr>
          <p:cNvPr id="86" name="Text 63"/>
          <p:cNvSpPr txBox="1"/>
          <p:nvPr/>
        </p:nvSpPr>
        <p:spPr>
          <a:xfrm>
            <a:off x="9701784" y="50017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87" name="Shape 64"/>
          <p:cNvSpPr/>
          <p:nvPr/>
        </p:nvSpPr>
        <p:spPr>
          <a:xfrm>
            <a:off x="9701784" y="5532120"/>
            <a:ext cx="420624" cy="420624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88" name="Image 20" descr="LuMusic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06940" y="5637276"/>
            <a:ext cx="210312" cy="210312"/>
          </a:xfrm>
          <a:prstGeom prst="rect">
            <a:avLst/>
          </a:prstGeom>
        </p:spPr>
      </p:pic>
      <p:sp>
        <p:nvSpPr>
          <p:cNvPr id="89" name="Text 65"/>
          <p:cNvSpPr txBox="1"/>
          <p:nvPr/>
        </p:nvSpPr>
        <p:spPr>
          <a:xfrm>
            <a:off x="10204704" y="553212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音频后期</a:t>
            </a:r>
            <a:endParaRPr lang="en-US" sz="1600" dirty="0"/>
          </a:p>
        </p:txBody>
      </p:sp>
      <p:sp>
        <p:nvSpPr>
          <p:cNvPr id="90" name="Text 66"/>
          <p:cNvSpPr txBox="1"/>
          <p:nvPr/>
        </p:nvSpPr>
        <p:spPr>
          <a:xfrm>
            <a:off x="9701784" y="603504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BGM、音效、音频增强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影视套件：剧本环节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视频拉片、剧本超市、剧本评估、剧本分镜，覆盖从找剧本到拆分镜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1920240"/>
            <a:ext cx="2651760" cy="4434840"/>
          </a:xfrm>
          <a:prstGeom prst="roundRect">
            <a:avLst>
              <a:gd name="adj" fmla="val 5517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Placeholder: 图片占位"/>
          <p:cNvSpPr/>
          <p:nvPr/>
        </p:nvSpPr>
        <p:spPr>
          <a:xfrm>
            <a:off x="713232" y="2084832"/>
            <a:ext cx="2322576" cy="141732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0" name="Image 1" descr="图片占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922" y="2452878"/>
            <a:ext cx="425196" cy="4251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13232" y="293293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3" name="Image 2" descr="Lu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77190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98448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剧本创作 · 视频拉片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777240" y="42976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一句话生成剧本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智能拉片：视频转分镜 / 视频转剧本 / 剧本分析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777240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解决的问题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777240" y="5779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没有现成剧本、学习爆款效率低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3362249" y="1920240"/>
            <a:ext cx="2651760" cy="4434840"/>
          </a:xfrm>
          <a:prstGeom prst="roundRect">
            <a:avLst>
              <a:gd name="adj" fmla="val 5517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9" name="Placeholder: 图片占位"/>
          <p:cNvSpPr/>
          <p:nvPr/>
        </p:nvSpPr>
        <p:spPr>
          <a:xfrm>
            <a:off x="3526841" y="2084832"/>
            <a:ext cx="2322576" cy="141732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20" name="Image 3" descr="图片占位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531" y="2452878"/>
            <a:ext cx="425196" cy="4251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526841" y="293293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3545129" y="365760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3" name="Image 4" descr="LuSto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9429" y="377190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112057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剧本超市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3590849" y="42976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剧本素材采购通道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版权交易与采买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3590849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解决的问题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3590849" y="5779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剧本来源少、自写成本高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6175858" y="1920240"/>
            <a:ext cx="2651760" cy="4434840"/>
          </a:xfrm>
          <a:prstGeom prst="roundRect">
            <a:avLst>
              <a:gd name="adj" fmla="val 5517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9" name="Placeholder: 图片占位"/>
          <p:cNvSpPr/>
          <p:nvPr/>
        </p:nvSpPr>
        <p:spPr>
          <a:xfrm>
            <a:off x="6340450" y="2084832"/>
            <a:ext cx="2322576" cy="141732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30" name="Image 5" descr="图片占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9140" y="2452878"/>
            <a:ext cx="425196" cy="42519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340450" y="293293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358738" y="365760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3" name="Image 6" descr="LuClipboar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038" y="3771900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25666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剧本评估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6404458" y="42976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剧本质量自动评估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输出评估报告</a:t>
            </a:r>
            <a:endParaRPr lang="en-US" sz="1300" dirty="0"/>
          </a:p>
        </p:txBody>
      </p:sp>
      <p:sp>
        <p:nvSpPr>
          <p:cNvPr id="36" name="Text 26"/>
          <p:cNvSpPr txBox="1"/>
          <p:nvPr/>
        </p:nvSpPr>
        <p:spPr>
          <a:xfrm>
            <a:off x="6404458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解决的问题</a:t>
            </a:r>
            <a:endParaRPr lang="en-US" sz="1100" dirty="0"/>
          </a:p>
        </p:txBody>
      </p:sp>
      <p:sp>
        <p:nvSpPr>
          <p:cNvPr id="37" name="Text 27"/>
          <p:cNvSpPr txBox="1"/>
          <p:nvPr/>
        </p:nvSpPr>
        <p:spPr>
          <a:xfrm>
            <a:off x="6404458" y="5779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剧本多、人工筛选效率低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8989466" y="1920240"/>
            <a:ext cx="2651760" cy="4434840"/>
          </a:xfrm>
          <a:prstGeom prst="roundRect">
            <a:avLst>
              <a:gd name="adj" fmla="val 5517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9" name="Placeholder: 图片占位"/>
          <p:cNvSpPr/>
          <p:nvPr/>
        </p:nvSpPr>
        <p:spPr>
          <a:xfrm>
            <a:off x="9154058" y="2084832"/>
            <a:ext cx="2322576" cy="141732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40" name="Image 7" descr="图片占位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2748" y="2452878"/>
            <a:ext cx="425196" cy="425196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9154058" y="293293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9172346" y="3657600"/>
            <a:ext cx="457200" cy="45720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43" name="Image 8" descr="LuLayer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646" y="3771900"/>
            <a:ext cx="228600" cy="22860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739274" y="36576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剧本分镜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9218066" y="42976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剧本解析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自动分镜（全要素）</a:t>
            </a:r>
            <a:endParaRPr lang="en-US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智能站位帧</a:t>
            </a:r>
            <a:endParaRPr lang="en-US" sz="1300" dirty="0"/>
          </a:p>
        </p:txBody>
      </p:sp>
      <p:sp>
        <p:nvSpPr>
          <p:cNvPr id="46" name="Text 34"/>
          <p:cNvSpPr txBox="1"/>
          <p:nvPr/>
        </p:nvSpPr>
        <p:spPr>
          <a:xfrm>
            <a:off x="9218066" y="5532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解决的问题</a:t>
            </a:r>
            <a:endParaRPr lang="en-US" sz="1100" dirty="0"/>
          </a:p>
        </p:txBody>
      </p:sp>
      <p:sp>
        <p:nvSpPr>
          <p:cNvPr id="47" name="Text 35"/>
          <p:cNvSpPr txBox="1"/>
          <p:nvPr/>
        </p:nvSpPr>
        <p:spPr>
          <a:xfrm>
            <a:off x="9218066" y="5779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人工拆分镜效率低、专业度不够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影视套件：资产、视频、配音与后期</a:t>
            </a:r>
            <a:endParaRPr lang="en-US" sz="3200" dirty="0"/>
          </a:p>
        </p:txBody>
      </p:sp>
      <p:sp>
        <p:nvSpPr>
          <p:cNvPr id="6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视频超分 · 音色统一 · BGM自动适配 · 自动字幕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48640" y="187452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9" name="Placeholder: 图片占位"/>
          <p:cNvSpPr/>
          <p:nvPr/>
        </p:nvSpPr>
        <p:spPr>
          <a:xfrm>
            <a:off x="685800" y="2011680"/>
            <a:ext cx="1417320" cy="196596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0" name="Image 1" descr="图片占位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2638044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5800" y="31501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286000" y="2039112"/>
            <a:ext cx="384048" cy="38404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3" name="Image 2" descr="LuShoppingB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012" y="2135124"/>
            <a:ext cx="192024" cy="19202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761488" y="20391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资产设计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2286000" y="253288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官方资产库；选角&amp;妆造；多视图；无损换装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2286000" y="33558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解决：角色场景难统一、前后不一致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4306824" y="187452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8" name="Placeholder: 图片占位"/>
          <p:cNvSpPr/>
          <p:nvPr/>
        </p:nvSpPr>
        <p:spPr>
          <a:xfrm>
            <a:off x="4443984" y="2011680"/>
            <a:ext cx="1417320" cy="196596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19" name="Image 3" descr="图片占位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044" y="2638044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443984" y="31501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044184" y="2039112"/>
            <a:ext cx="384048" cy="38404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22" name="Image 4" descr="LuVide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196" y="2135124"/>
            <a:ext cx="192024" cy="19202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519672" y="20391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6044184" y="253288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提示词质检；多镜头批量生成视频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6044184" y="33558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解决：废片成本高、整任务重跑成本高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8065008" y="187452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7" name="Placeholder: 图片占位"/>
          <p:cNvSpPr/>
          <p:nvPr/>
        </p:nvSpPr>
        <p:spPr>
          <a:xfrm>
            <a:off x="8202168" y="2011680"/>
            <a:ext cx="1417320" cy="196596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28" name="Image 5" descr="图片占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228" y="2638044"/>
            <a:ext cx="457200" cy="4572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202168" y="31501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9802368" y="2039112"/>
            <a:ext cx="384048" cy="38404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31" name="Image 6" descr="LuMi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380" y="2135124"/>
            <a:ext cx="192024" cy="19202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77856" y="20391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智能配音</a:t>
            </a:r>
            <a:endParaRPr lang="en-US" sz="1600" dirty="0"/>
          </a:p>
        </p:txBody>
      </p:sp>
      <p:sp>
        <p:nvSpPr>
          <p:cNvPr id="33" name="Text 23"/>
          <p:cNvSpPr txBox="1"/>
          <p:nvPr/>
        </p:nvSpPr>
        <p:spPr>
          <a:xfrm>
            <a:off x="9802368" y="253288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音色替换；多角色音色统一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9802368" y="335584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解决：重新配音成本高、换声后情绪走样</a:t>
            </a:r>
            <a:endParaRPr lang="en-US" sz="1200" dirty="0"/>
          </a:p>
        </p:txBody>
      </p:sp>
      <p:sp>
        <p:nvSpPr>
          <p:cNvPr id="35" name="Card"/>
          <p:cNvSpPr/>
          <p:nvPr/>
        </p:nvSpPr>
        <p:spPr>
          <a:xfrm>
            <a:off x="548640" y="429768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36" name="Placeholder: 图片占位"/>
          <p:cNvSpPr/>
          <p:nvPr/>
        </p:nvSpPr>
        <p:spPr>
          <a:xfrm>
            <a:off x="685800" y="4434840"/>
            <a:ext cx="1417320" cy="196596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37" name="Image 7" descr="图片占位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5860" y="5061204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85800" y="55732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2286000" y="4462272"/>
            <a:ext cx="384048" cy="38404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40" name="Image 8" descr="LuCaption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2012" y="4558284"/>
            <a:ext cx="192024" cy="192024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2761488" y="44622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字幕生成</a:t>
            </a:r>
            <a:endParaRPr lang="en-US" sz="1600" dirty="0"/>
          </a:p>
        </p:txBody>
      </p:sp>
      <p:sp>
        <p:nvSpPr>
          <p:cNvPr id="42" name="Text 30"/>
          <p:cNvSpPr txBox="1"/>
          <p:nvPr/>
        </p:nvSpPr>
        <p:spPr>
          <a:xfrm>
            <a:off x="2286000" y="495604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自动字幕；字幕配音对齐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2286000" y="577900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解决：手动打字幕、对时间轴繁琐</a:t>
            </a:r>
            <a:endParaRPr lang="en-US" sz="1200" dirty="0"/>
          </a:p>
        </p:txBody>
      </p:sp>
      <p:sp>
        <p:nvSpPr>
          <p:cNvPr id="44" name="Card"/>
          <p:cNvSpPr/>
          <p:nvPr/>
        </p:nvSpPr>
        <p:spPr>
          <a:xfrm>
            <a:off x="4306824" y="429768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45" name="Placeholder: 图片占位"/>
          <p:cNvSpPr/>
          <p:nvPr/>
        </p:nvSpPr>
        <p:spPr>
          <a:xfrm>
            <a:off x="4443984" y="4434840"/>
            <a:ext cx="1417320" cy="196596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46" name="Image 9" descr="图片占位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4044" y="5061204"/>
            <a:ext cx="457200" cy="45720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4443984" y="55732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48" name="Shape 35"/>
          <p:cNvSpPr/>
          <p:nvPr/>
        </p:nvSpPr>
        <p:spPr>
          <a:xfrm>
            <a:off x="6044184" y="4462272"/>
            <a:ext cx="384048" cy="38404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49" name="Image 10" descr="LuClapperboar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0196" y="4558284"/>
            <a:ext cx="192024" cy="192024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6519672" y="44622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影视后期</a:t>
            </a:r>
            <a:endParaRPr lang="en-US" sz="1600" dirty="0"/>
          </a:p>
        </p:txBody>
      </p:sp>
      <p:sp>
        <p:nvSpPr>
          <p:cNvPr id="51" name="Text 37"/>
          <p:cNvSpPr txBox="1"/>
          <p:nvPr/>
        </p:nvSpPr>
        <p:spPr>
          <a:xfrm>
            <a:off x="6044184" y="495604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超分辨率；帧率提升；HDR增强</a:t>
            </a:r>
            <a:endParaRPr lang="en-US" sz="1300" dirty="0"/>
          </a:p>
        </p:txBody>
      </p:sp>
      <p:sp>
        <p:nvSpPr>
          <p:cNvPr id="52" name="Text 38"/>
          <p:cNvSpPr txBox="1"/>
          <p:nvPr/>
        </p:nvSpPr>
        <p:spPr>
          <a:xfrm>
            <a:off x="6044184" y="577900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解决：分辨率不够、画面不流畅</a:t>
            </a:r>
            <a:endParaRPr lang="en-US" sz="1200" dirty="0"/>
          </a:p>
        </p:txBody>
      </p:sp>
      <p:sp>
        <p:nvSpPr>
          <p:cNvPr id="53" name="Card"/>
          <p:cNvSpPr/>
          <p:nvPr/>
        </p:nvSpPr>
        <p:spPr>
          <a:xfrm>
            <a:off x="8065008" y="4297680"/>
            <a:ext cx="3575304" cy="2240280"/>
          </a:xfrm>
          <a:prstGeom prst="roundRect">
            <a:avLst>
              <a:gd name="adj" fmla="val 6531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54" name="Placeholder: 图片占位"/>
          <p:cNvSpPr/>
          <p:nvPr/>
        </p:nvSpPr>
        <p:spPr>
          <a:xfrm>
            <a:off x="8202168" y="4434840"/>
            <a:ext cx="1417320" cy="1965960"/>
          </a:xfrm>
          <a:prstGeom prst="roundRect">
            <a:avLst>
              <a:gd name="adj" fmla="val 6452"/>
            </a:avLst>
          </a:prstGeom>
          <a:solidFill>
            <a:srgbClr val="101114"/>
          </a:solidFill>
          <a:ln w="12700">
            <a:solidFill>
              <a:srgbClr val="3A3D47"/>
            </a:solidFill>
            <a:prstDash val="dash"/>
          </a:ln>
        </p:spPr>
      </p:sp>
      <p:pic>
        <p:nvPicPr>
          <p:cNvPr id="55" name="Image 11" descr="图片占位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2228" y="5061204"/>
            <a:ext cx="457200" cy="45720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8202168" y="55732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F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图片占位</a:t>
            </a:r>
            <a:endParaRPr lang="en-US" sz="1100" dirty="0"/>
          </a:p>
        </p:txBody>
      </p:sp>
      <p:sp>
        <p:nvSpPr>
          <p:cNvPr id="57" name="Shape 42"/>
          <p:cNvSpPr/>
          <p:nvPr/>
        </p:nvSpPr>
        <p:spPr>
          <a:xfrm>
            <a:off x="9802368" y="4462272"/>
            <a:ext cx="384048" cy="384048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58" name="Image 12" descr="LuMusic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8380" y="4558284"/>
            <a:ext cx="192024" cy="192024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10277856" y="446227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音频后期</a:t>
            </a:r>
            <a:endParaRPr lang="en-US" sz="1600" dirty="0"/>
          </a:p>
        </p:txBody>
      </p:sp>
      <p:sp>
        <p:nvSpPr>
          <p:cNvPr id="60" name="Text 44"/>
          <p:cNvSpPr txBox="1"/>
          <p:nvPr/>
        </p:nvSpPr>
        <p:spPr>
          <a:xfrm>
            <a:off x="9802368" y="4956048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BGM自动适配；音效生成；音频增强；智能环绕声</a:t>
            </a:r>
            <a:endParaRPr lang="en-US" sz="1300" dirty="0"/>
          </a:p>
        </p:txBody>
      </p:sp>
      <p:sp>
        <p:nvSpPr>
          <p:cNvPr id="61" name="Text 45"/>
          <p:cNvSpPr txBox="1"/>
          <p:nvPr/>
        </p:nvSpPr>
        <p:spPr>
          <a:xfrm>
            <a:off x="9802368" y="5779008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解决：配乐成本高、音画不同步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ivid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29184" cy="3291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320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</a:t>
            </a:r>
            <a:endParaRPr lang="en-US" sz="14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7772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支持私有化服务、模型本地部署</a:t>
            </a:r>
            <a:endParaRPr lang="en-US" sz="32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13716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面向对数据安全、内容合规有严格要求的企业客户，核心能力支持本地部署运行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8813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548640" y="1965960"/>
            <a:ext cx="5458968" cy="2011680"/>
          </a:xfrm>
          <a:prstGeom prst="roundRect">
            <a:avLst>
              <a:gd name="adj" fmla="val 7273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9" name="Image 1" descr="Lu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4003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24028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私有化服务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0632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面向对数据安全、内容合规有严格要求的企业客户，核心能力支持本地部署运行。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6181344" y="1965960"/>
            <a:ext cx="5458968" cy="2011680"/>
          </a:xfrm>
          <a:prstGeom prst="roundRect">
            <a:avLst>
              <a:gd name="adj" fmla="val 7273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55664" y="2240280"/>
            <a:ext cx="640080" cy="640080"/>
          </a:xfrm>
          <a:prstGeom prst="ellipse">
            <a:avLst/>
          </a:prstGeom>
          <a:solidFill>
            <a:srgbClr val="17331F"/>
          </a:solidFill>
          <a:ln w="12700">
            <a:solidFill>
              <a:srgbClr val="245A36"/>
            </a:solidFill>
            <a:prstDash val="solid"/>
          </a:ln>
        </p:spPr>
      </p:sp>
      <p:pic>
        <p:nvPicPr>
          <p:cNvPr id="14" name="Image 2" descr="Lu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4003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78624" y="224028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本地部署模型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6455664" y="30632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9D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模型在本地部署，使用成本大幅降低。</a:t>
            </a:r>
            <a:endParaRPr lang="en-US" sz="1600" dirty="0"/>
          </a:p>
        </p:txBody>
      </p:sp>
      <p:sp>
        <p:nvSpPr>
          <p:cNvPr id="17" name="Deployment diagram"/>
          <p:cNvSpPr/>
          <p:nvPr/>
        </p:nvSpPr>
        <p:spPr>
          <a:xfrm>
            <a:off x="548640" y="4206240"/>
            <a:ext cx="11091672" cy="2103120"/>
          </a:xfrm>
          <a:prstGeom prst="roundRect">
            <a:avLst>
              <a:gd name="adj" fmla="val 6957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331720" y="4389120"/>
            <a:ext cx="7498080" cy="1737360"/>
          </a:xfrm>
          <a:prstGeom prst="roundRect">
            <a:avLst>
              <a:gd name="adj" fmla="val 7368"/>
            </a:avLst>
          </a:prstGeom>
          <a:solidFill>
            <a:srgbClr val="101114"/>
          </a:solidFill>
          <a:ln w="12700">
            <a:solidFill>
              <a:srgbClr val="4ADE80"/>
            </a:solidFill>
            <a:prstDash val="dash"/>
          </a:ln>
        </p:spPr>
      </p:sp>
      <p:sp>
        <p:nvSpPr>
          <p:cNvPr id="19" name="Text 14"/>
          <p:cNvSpPr txBox="1"/>
          <p:nvPr/>
        </p:nvSpPr>
        <p:spPr>
          <a:xfrm>
            <a:off x="25146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企业本地环境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606040" y="48463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606040" y="4846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Vivid Agent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526280" y="5257800"/>
            <a:ext cx="41148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37760" y="48463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937760" y="4846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影视套件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858000" y="5257800"/>
            <a:ext cx="41148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269480" y="48463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B1C21"/>
          </a:solidFill>
          <a:ln w="12700">
            <a:solidFill>
              <a:srgbClr val="2B2D35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269480" y="4846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本地部署模型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777240" y="4937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 / 素材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10012680" y="4937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成片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*面向对数据安全、内容合规有严格要求的企业客户，核心能力支持本地部署运行。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Vivid - AI影视内容创作Agent</dc:title>
  <dc:subject>PptxGenJS Presentation</dc:subject>
  <dc:creator>Vivid</dc:creator>
  <cp:lastModifiedBy>Vivid</cp:lastModifiedBy>
  <cp:revision>1</cp:revision>
  <dcterms:created xsi:type="dcterms:W3CDTF">2026-10-21T06:45:09Z</dcterms:created>
  <dcterms:modified xsi:type="dcterms:W3CDTF">2026-10-21T06:45:09Z</dcterms:modified>
</cp:coreProperties>
</file>